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8" r:id="rId5"/>
    <p:sldId id="272" r:id="rId6"/>
    <p:sldId id="267" r:id="rId7"/>
    <p:sldId id="261" r:id="rId8"/>
    <p:sldId id="262" r:id="rId9"/>
    <p:sldId id="263" r:id="rId10"/>
    <p:sldId id="264" r:id="rId11"/>
    <p:sldId id="265" r:id="rId12"/>
    <p:sldId id="270" r:id="rId13"/>
    <p:sldId id="271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0851"/>
  </p:normalViewPr>
  <p:slideViewPr>
    <p:cSldViewPr snapToGrid="0" snapToObjects="1">
      <p:cViewPr varScale="1">
        <p:scale>
          <a:sx n="111" d="100"/>
          <a:sy n="111" d="100"/>
        </p:scale>
        <p:origin x="168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9E07D-279A-4435-A0BD-DA592BF9C46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ACE1F7-D15F-42FB-A800-C8BE61FF5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Selected Model</a:t>
          </a:r>
          <a:r>
            <a:rPr lang="en-US"/>
            <a:t>: </a:t>
          </a:r>
          <a:r>
            <a:rPr lang="en-US" i="1"/>
            <a:t>Logistic Regression</a:t>
          </a:r>
          <a:br>
            <a:rPr lang="en-US"/>
          </a:br>
          <a:r>
            <a:rPr lang="en-US"/>
            <a:t>- Chosen for its balance of recall, transparency, and ease of deployment</a:t>
          </a:r>
          <a:br>
            <a:rPr lang="en-US"/>
          </a:br>
          <a:r>
            <a:rPr lang="en-US"/>
            <a:t>- Well-suited for healthcare, where interpretability is critical</a:t>
          </a:r>
        </a:p>
      </dgm:t>
    </dgm:pt>
    <dgm:pt modelId="{924A775B-30DD-461A-A268-D310EB45AAEE}" type="parTrans" cxnId="{233DBAEB-72ED-4FD6-BFFF-2720B66C0B6C}">
      <dgm:prSet/>
      <dgm:spPr/>
      <dgm:t>
        <a:bodyPr/>
        <a:lstStyle/>
        <a:p>
          <a:endParaRPr lang="en-US"/>
        </a:p>
      </dgm:t>
    </dgm:pt>
    <dgm:pt modelId="{9EE97913-4752-49F5-8BFD-36D96E07763A}" type="sibTrans" cxnId="{233DBAEB-72ED-4FD6-BFFF-2720B66C0B6C}">
      <dgm:prSet/>
      <dgm:spPr/>
      <dgm:t>
        <a:bodyPr/>
        <a:lstStyle/>
        <a:p>
          <a:endParaRPr lang="en-US"/>
        </a:p>
      </dgm:t>
    </dgm:pt>
    <dgm:pt modelId="{5D519482-6B08-466F-9137-BAB44DF54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Backup Model</a:t>
          </a:r>
          <a:r>
            <a:rPr lang="en-US"/>
            <a:t>: </a:t>
          </a:r>
          <a:r>
            <a:rPr lang="en-US" i="1"/>
            <a:t>Random Forest</a:t>
          </a:r>
          <a:br>
            <a:rPr lang="en-US"/>
          </a:br>
          <a:r>
            <a:rPr lang="en-US"/>
            <a:t>- Slightly higher recall</a:t>
          </a:r>
          <a:br>
            <a:rPr lang="en-US"/>
          </a:br>
          <a:r>
            <a:rPr lang="en-US"/>
            <a:t>- Reduced interpretability — kept as fallback</a:t>
          </a:r>
        </a:p>
      </dgm:t>
    </dgm:pt>
    <dgm:pt modelId="{44422B37-2E73-48F6-8530-185AAE07812E}" type="parTrans" cxnId="{769887A0-DB20-432F-A457-A0FC83365B94}">
      <dgm:prSet/>
      <dgm:spPr/>
      <dgm:t>
        <a:bodyPr/>
        <a:lstStyle/>
        <a:p>
          <a:endParaRPr lang="en-US"/>
        </a:p>
      </dgm:t>
    </dgm:pt>
    <dgm:pt modelId="{A7C60718-EF65-4B2C-9823-8597C89C51A0}" type="sibTrans" cxnId="{769887A0-DB20-432F-A457-A0FC83365B94}">
      <dgm:prSet/>
      <dgm:spPr/>
      <dgm:t>
        <a:bodyPr/>
        <a:lstStyle/>
        <a:p>
          <a:endParaRPr lang="en-US"/>
        </a:p>
      </dgm:t>
    </dgm:pt>
    <dgm:pt modelId="{0E4A61AC-262E-4910-8B65-688FC04FE6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Excluded Models</a:t>
          </a:r>
          <a:r>
            <a:rPr lang="en-US"/>
            <a:t>:</a:t>
          </a:r>
          <a:br>
            <a:rPr lang="en-US"/>
          </a:br>
          <a:r>
            <a:rPr lang="en-US"/>
            <a:t>- </a:t>
          </a:r>
          <a:r>
            <a:rPr lang="en-US" i="1"/>
            <a:t>CatBoost</a:t>
          </a:r>
          <a:r>
            <a:rPr lang="en-US"/>
            <a:t>: High accuracy, but low recall — misses too many at-risk patients</a:t>
          </a:r>
          <a:br>
            <a:rPr lang="en-US"/>
          </a:br>
          <a:r>
            <a:rPr lang="en-US"/>
            <a:t>- </a:t>
          </a:r>
          <a:r>
            <a:rPr lang="en-US" i="1"/>
            <a:t>XGBoost</a:t>
          </a:r>
          <a:r>
            <a:rPr lang="en-US"/>
            <a:t>: Highest recall, but low accuracy — too many false positives for clinical use</a:t>
          </a:r>
        </a:p>
      </dgm:t>
    </dgm:pt>
    <dgm:pt modelId="{B509A645-FCB9-4C2C-9EFA-E14B48B91CEE}" type="parTrans" cxnId="{B792C666-63D5-4439-86F5-17C5DF04CF32}">
      <dgm:prSet/>
      <dgm:spPr/>
      <dgm:t>
        <a:bodyPr/>
        <a:lstStyle/>
        <a:p>
          <a:endParaRPr lang="en-US"/>
        </a:p>
      </dgm:t>
    </dgm:pt>
    <dgm:pt modelId="{3B1589D2-04EC-4665-BCFA-764DC7C425BC}" type="sibTrans" cxnId="{B792C666-63D5-4439-86F5-17C5DF04CF32}">
      <dgm:prSet/>
      <dgm:spPr/>
      <dgm:t>
        <a:bodyPr/>
        <a:lstStyle/>
        <a:p>
          <a:endParaRPr lang="en-US"/>
        </a:p>
      </dgm:t>
    </dgm:pt>
    <dgm:pt modelId="{DF656F29-1F0C-459A-8F66-C3979F2445E3}" type="pres">
      <dgm:prSet presAssocID="{E089E07D-279A-4435-A0BD-DA592BF9C460}" presName="root" presStyleCnt="0">
        <dgm:presLayoutVars>
          <dgm:dir/>
          <dgm:resizeHandles val="exact"/>
        </dgm:presLayoutVars>
      </dgm:prSet>
      <dgm:spPr/>
    </dgm:pt>
    <dgm:pt modelId="{B2EBC7CD-C093-4FF9-B594-AA28A6B428E2}" type="pres">
      <dgm:prSet presAssocID="{BCACE1F7-D15F-42FB-A800-C8BE61FF531A}" presName="compNode" presStyleCnt="0"/>
      <dgm:spPr/>
    </dgm:pt>
    <dgm:pt modelId="{CF10C1D9-09FC-4008-9F97-9C109649F24E}" type="pres">
      <dgm:prSet presAssocID="{BCACE1F7-D15F-42FB-A800-C8BE61FF531A}" presName="bgRect" presStyleLbl="bgShp" presStyleIdx="0" presStyleCnt="3"/>
      <dgm:spPr/>
    </dgm:pt>
    <dgm:pt modelId="{2CD2D199-B8BB-4575-B733-E42C1FAA10B7}" type="pres">
      <dgm:prSet presAssocID="{BCACE1F7-D15F-42FB-A800-C8BE61FF53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877FB350-A658-4C93-801D-FE8F42427EBF}" type="pres">
      <dgm:prSet presAssocID="{BCACE1F7-D15F-42FB-A800-C8BE61FF531A}" presName="spaceRect" presStyleCnt="0"/>
      <dgm:spPr/>
    </dgm:pt>
    <dgm:pt modelId="{537F6B51-D54D-48C0-9A65-357BE6102852}" type="pres">
      <dgm:prSet presAssocID="{BCACE1F7-D15F-42FB-A800-C8BE61FF531A}" presName="parTx" presStyleLbl="revTx" presStyleIdx="0" presStyleCnt="3">
        <dgm:presLayoutVars>
          <dgm:chMax val="0"/>
          <dgm:chPref val="0"/>
        </dgm:presLayoutVars>
      </dgm:prSet>
      <dgm:spPr/>
    </dgm:pt>
    <dgm:pt modelId="{D3CD2217-C80D-4B27-AF12-36C20661C7AC}" type="pres">
      <dgm:prSet presAssocID="{9EE97913-4752-49F5-8BFD-36D96E07763A}" presName="sibTrans" presStyleCnt="0"/>
      <dgm:spPr/>
    </dgm:pt>
    <dgm:pt modelId="{9BADEE4D-DA8C-4F7A-8547-EC9773EB15E4}" type="pres">
      <dgm:prSet presAssocID="{5D519482-6B08-466F-9137-BAB44DF54F2B}" presName="compNode" presStyleCnt="0"/>
      <dgm:spPr/>
    </dgm:pt>
    <dgm:pt modelId="{237D9DFD-0F37-4940-8DF9-A87748A24A72}" type="pres">
      <dgm:prSet presAssocID="{5D519482-6B08-466F-9137-BAB44DF54F2B}" presName="bgRect" presStyleLbl="bgShp" presStyleIdx="1" presStyleCnt="3"/>
      <dgm:spPr/>
    </dgm:pt>
    <dgm:pt modelId="{CB916F66-AF03-4617-8A23-8548A313B9ED}" type="pres">
      <dgm:prSet presAssocID="{5D519482-6B08-466F-9137-BAB44DF54F2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1F5EC127-F1E6-426B-A768-B2671B054C0D}" type="pres">
      <dgm:prSet presAssocID="{5D519482-6B08-466F-9137-BAB44DF54F2B}" presName="spaceRect" presStyleCnt="0"/>
      <dgm:spPr/>
    </dgm:pt>
    <dgm:pt modelId="{BE4212D7-BA9A-4018-BB5F-FAC81288ED1C}" type="pres">
      <dgm:prSet presAssocID="{5D519482-6B08-466F-9137-BAB44DF54F2B}" presName="parTx" presStyleLbl="revTx" presStyleIdx="1" presStyleCnt="3">
        <dgm:presLayoutVars>
          <dgm:chMax val="0"/>
          <dgm:chPref val="0"/>
        </dgm:presLayoutVars>
      </dgm:prSet>
      <dgm:spPr/>
    </dgm:pt>
    <dgm:pt modelId="{0FE09F6E-2ADC-4B1A-A987-1811872CE5D0}" type="pres">
      <dgm:prSet presAssocID="{A7C60718-EF65-4B2C-9823-8597C89C51A0}" presName="sibTrans" presStyleCnt="0"/>
      <dgm:spPr/>
    </dgm:pt>
    <dgm:pt modelId="{6641167E-6925-4AB7-A11D-54905E4E4F14}" type="pres">
      <dgm:prSet presAssocID="{0E4A61AC-262E-4910-8B65-688FC04FE685}" presName="compNode" presStyleCnt="0"/>
      <dgm:spPr/>
    </dgm:pt>
    <dgm:pt modelId="{A9DBB4A6-DDCA-4B60-9AF6-D100E4702F2F}" type="pres">
      <dgm:prSet presAssocID="{0E4A61AC-262E-4910-8B65-688FC04FE685}" presName="bgRect" presStyleLbl="bgShp" presStyleIdx="2" presStyleCnt="3"/>
      <dgm:spPr/>
    </dgm:pt>
    <dgm:pt modelId="{829FAA7A-7979-47AC-9958-E26DB549B579}" type="pres">
      <dgm:prSet presAssocID="{0E4A61AC-262E-4910-8B65-688FC04FE68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70B8D906-439D-4434-86E5-9E39AAB4C19B}" type="pres">
      <dgm:prSet presAssocID="{0E4A61AC-262E-4910-8B65-688FC04FE685}" presName="spaceRect" presStyleCnt="0"/>
      <dgm:spPr/>
    </dgm:pt>
    <dgm:pt modelId="{35674258-C2BA-491D-B5FF-D71F28F68B20}" type="pres">
      <dgm:prSet presAssocID="{0E4A61AC-262E-4910-8B65-688FC04FE68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D03731B-CBC7-4AE7-83C1-2B02B7DAA0B2}" type="presOf" srcId="{E089E07D-279A-4435-A0BD-DA592BF9C460}" destId="{DF656F29-1F0C-459A-8F66-C3979F2445E3}" srcOrd="0" destOrd="0" presId="urn:microsoft.com/office/officeart/2018/2/layout/IconVerticalSolidList"/>
    <dgm:cxn modelId="{2A2BD247-10E5-4ED9-9717-00362BBDF5E6}" type="presOf" srcId="{BCACE1F7-D15F-42FB-A800-C8BE61FF531A}" destId="{537F6B51-D54D-48C0-9A65-357BE6102852}" srcOrd="0" destOrd="0" presId="urn:microsoft.com/office/officeart/2018/2/layout/IconVerticalSolidList"/>
    <dgm:cxn modelId="{B4C1FF63-C834-4505-A30D-9270CF496319}" type="presOf" srcId="{0E4A61AC-262E-4910-8B65-688FC04FE685}" destId="{35674258-C2BA-491D-B5FF-D71F28F68B20}" srcOrd="0" destOrd="0" presId="urn:microsoft.com/office/officeart/2018/2/layout/IconVerticalSolidList"/>
    <dgm:cxn modelId="{B792C666-63D5-4439-86F5-17C5DF04CF32}" srcId="{E089E07D-279A-4435-A0BD-DA592BF9C460}" destId="{0E4A61AC-262E-4910-8B65-688FC04FE685}" srcOrd="2" destOrd="0" parTransId="{B509A645-FCB9-4C2C-9EFA-E14B48B91CEE}" sibTransId="{3B1589D2-04EC-4665-BCFA-764DC7C425BC}"/>
    <dgm:cxn modelId="{01B40478-946F-48E8-AA30-EA84494CB5F9}" type="presOf" srcId="{5D519482-6B08-466F-9137-BAB44DF54F2B}" destId="{BE4212D7-BA9A-4018-BB5F-FAC81288ED1C}" srcOrd="0" destOrd="0" presId="urn:microsoft.com/office/officeart/2018/2/layout/IconVerticalSolidList"/>
    <dgm:cxn modelId="{769887A0-DB20-432F-A457-A0FC83365B94}" srcId="{E089E07D-279A-4435-A0BD-DA592BF9C460}" destId="{5D519482-6B08-466F-9137-BAB44DF54F2B}" srcOrd="1" destOrd="0" parTransId="{44422B37-2E73-48F6-8530-185AAE07812E}" sibTransId="{A7C60718-EF65-4B2C-9823-8597C89C51A0}"/>
    <dgm:cxn modelId="{233DBAEB-72ED-4FD6-BFFF-2720B66C0B6C}" srcId="{E089E07D-279A-4435-A0BD-DA592BF9C460}" destId="{BCACE1F7-D15F-42FB-A800-C8BE61FF531A}" srcOrd="0" destOrd="0" parTransId="{924A775B-30DD-461A-A268-D310EB45AAEE}" sibTransId="{9EE97913-4752-49F5-8BFD-36D96E07763A}"/>
    <dgm:cxn modelId="{5AEA86E0-0C86-4118-AE7B-363862F96776}" type="presParOf" srcId="{DF656F29-1F0C-459A-8F66-C3979F2445E3}" destId="{B2EBC7CD-C093-4FF9-B594-AA28A6B428E2}" srcOrd="0" destOrd="0" presId="urn:microsoft.com/office/officeart/2018/2/layout/IconVerticalSolidList"/>
    <dgm:cxn modelId="{76BF92FF-451C-4964-9A73-E5072438F8E6}" type="presParOf" srcId="{B2EBC7CD-C093-4FF9-B594-AA28A6B428E2}" destId="{CF10C1D9-09FC-4008-9F97-9C109649F24E}" srcOrd="0" destOrd="0" presId="urn:microsoft.com/office/officeart/2018/2/layout/IconVerticalSolidList"/>
    <dgm:cxn modelId="{44278031-1E8B-4000-89FB-1D89C7B4AD4E}" type="presParOf" srcId="{B2EBC7CD-C093-4FF9-B594-AA28A6B428E2}" destId="{2CD2D199-B8BB-4575-B733-E42C1FAA10B7}" srcOrd="1" destOrd="0" presId="urn:microsoft.com/office/officeart/2018/2/layout/IconVerticalSolidList"/>
    <dgm:cxn modelId="{B868F9DB-5D13-41C9-8601-B9C67B6F8D93}" type="presParOf" srcId="{B2EBC7CD-C093-4FF9-B594-AA28A6B428E2}" destId="{877FB350-A658-4C93-801D-FE8F42427EBF}" srcOrd="2" destOrd="0" presId="urn:microsoft.com/office/officeart/2018/2/layout/IconVerticalSolidList"/>
    <dgm:cxn modelId="{94E43988-1D81-4FCD-9BBD-2FAA16AD8C85}" type="presParOf" srcId="{B2EBC7CD-C093-4FF9-B594-AA28A6B428E2}" destId="{537F6B51-D54D-48C0-9A65-357BE6102852}" srcOrd="3" destOrd="0" presId="urn:microsoft.com/office/officeart/2018/2/layout/IconVerticalSolidList"/>
    <dgm:cxn modelId="{D1E794C1-899E-4133-A563-B2B38A6C1783}" type="presParOf" srcId="{DF656F29-1F0C-459A-8F66-C3979F2445E3}" destId="{D3CD2217-C80D-4B27-AF12-36C20661C7AC}" srcOrd="1" destOrd="0" presId="urn:microsoft.com/office/officeart/2018/2/layout/IconVerticalSolidList"/>
    <dgm:cxn modelId="{7FD47C80-1BE6-47FA-A603-1B59DEE9066E}" type="presParOf" srcId="{DF656F29-1F0C-459A-8F66-C3979F2445E3}" destId="{9BADEE4D-DA8C-4F7A-8547-EC9773EB15E4}" srcOrd="2" destOrd="0" presId="urn:microsoft.com/office/officeart/2018/2/layout/IconVerticalSolidList"/>
    <dgm:cxn modelId="{2F014F4A-0330-46B9-A37B-6C2142AA0362}" type="presParOf" srcId="{9BADEE4D-DA8C-4F7A-8547-EC9773EB15E4}" destId="{237D9DFD-0F37-4940-8DF9-A87748A24A72}" srcOrd="0" destOrd="0" presId="urn:microsoft.com/office/officeart/2018/2/layout/IconVerticalSolidList"/>
    <dgm:cxn modelId="{E35EF37E-EBE8-4F09-B948-297E6DE6F1F5}" type="presParOf" srcId="{9BADEE4D-DA8C-4F7A-8547-EC9773EB15E4}" destId="{CB916F66-AF03-4617-8A23-8548A313B9ED}" srcOrd="1" destOrd="0" presId="urn:microsoft.com/office/officeart/2018/2/layout/IconVerticalSolidList"/>
    <dgm:cxn modelId="{3573EEB3-035F-4D0B-8E96-6C129D137EFA}" type="presParOf" srcId="{9BADEE4D-DA8C-4F7A-8547-EC9773EB15E4}" destId="{1F5EC127-F1E6-426B-A768-B2671B054C0D}" srcOrd="2" destOrd="0" presId="urn:microsoft.com/office/officeart/2018/2/layout/IconVerticalSolidList"/>
    <dgm:cxn modelId="{40BF32B3-9496-4D46-B4D0-902FAAA84FE8}" type="presParOf" srcId="{9BADEE4D-DA8C-4F7A-8547-EC9773EB15E4}" destId="{BE4212D7-BA9A-4018-BB5F-FAC81288ED1C}" srcOrd="3" destOrd="0" presId="urn:microsoft.com/office/officeart/2018/2/layout/IconVerticalSolidList"/>
    <dgm:cxn modelId="{6D73B7E5-7F33-46EE-9F95-AF9D6AD321AF}" type="presParOf" srcId="{DF656F29-1F0C-459A-8F66-C3979F2445E3}" destId="{0FE09F6E-2ADC-4B1A-A987-1811872CE5D0}" srcOrd="3" destOrd="0" presId="urn:microsoft.com/office/officeart/2018/2/layout/IconVerticalSolidList"/>
    <dgm:cxn modelId="{3874F4AD-E433-4D4E-A115-46821F331DA3}" type="presParOf" srcId="{DF656F29-1F0C-459A-8F66-C3979F2445E3}" destId="{6641167E-6925-4AB7-A11D-54905E4E4F14}" srcOrd="4" destOrd="0" presId="urn:microsoft.com/office/officeart/2018/2/layout/IconVerticalSolidList"/>
    <dgm:cxn modelId="{33B218EC-FB4E-4135-B0DE-F4CC0C822100}" type="presParOf" srcId="{6641167E-6925-4AB7-A11D-54905E4E4F14}" destId="{A9DBB4A6-DDCA-4B60-9AF6-D100E4702F2F}" srcOrd="0" destOrd="0" presId="urn:microsoft.com/office/officeart/2018/2/layout/IconVerticalSolidList"/>
    <dgm:cxn modelId="{218FCE66-9D2B-40D2-B3CE-FCE6CBDFB696}" type="presParOf" srcId="{6641167E-6925-4AB7-A11D-54905E4E4F14}" destId="{829FAA7A-7979-47AC-9958-E26DB549B579}" srcOrd="1" destOrd="0" presId="urn:microsoft.com/office/officeart/2018/2/layout/IconVerticalSolidList"/>
    <dgm:cxn modelId="{93801C84-2BF9-4BD8-8F9E-2A728B32FAB3}" type="presParOf" srcId="{6641167E-6925-4AB7-A11D-54905E4E4F14}" destId="{70B8D906-439D-4434-86E5-9E39AAB4C19B}" srcOrd="2" destOrd="0" presId="urn:microsoft.com/office/officeart/2018/2/layout/IconVerticalSolidList"/>
    <dgm:cxn modelId="{FB1B71D9-44BA-4004-8A3D-96C9324B9686}" type="presParOf" srcId="{6641167E-6925-4AB7-A11D-54905E4E4F14}" destId="{35674258-C2BA-491D-B5FF-D71F28F68B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0C1D9-09FC-4008-9F97-9C109649F24E}">
      <dsp:nvSpPr>
        <dsp:cNvPr id="0" name=""/>
        <dsp:cNvSpPr/>
      </dsp:nvSpPr>
      <dsp:spPr>
        <a:xfrm>
          <a:off x="0" y="360"/>
          <a:ext cx="7372413" cy="8435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D2D199-B8BB-4575-B733-E42C1FAA10B7}">
      <dsp:nvSpPr>
        <dsp:cNvPr id="0" name=""/>
        <dsp:cNvSpPr/>
      </dsp:nvSpPr>
      <dsp:spPr>
        <a:xfrm>
          <a:off x="255177" y="190161"/>
          <a:ext cx="463958" cy="4639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7F6B51-D54D-48C0-9A65-357BE6102852}">
      <dsp:nvSpPr>
        <dsp:cNvPr id="0" name=""/>
        <dsp:cNvSpPr/>
      </dsp:nvSpPr>
      <dsp:spPr>
        <a:xfrm>
          <a:off x="974312" y="360"/>
          <a:ext cx="6398100" cy="84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77" tIns="89277" rIns="89277" bIns="892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Selected Model</a:t>
          </a:r>
          <a:r>
            <a:rPr lang="en-US" sz="1400" kern="1200"/>
            <a:t>: </a:t>
          </a:r>
          <a:r>
            <a:rPr lang="en-US" sz="1400" i="1" kern="1200"/>
            <a:t>Logistic Regression</a:t>
          </a:r>
          <a:br>
            <a:rPr lang="en-US" sz="1400" kern="1200"/>
          </a:br>
          <a:r>
            <a:rPr lang="en-US" sz="1400" kern="1200"/>
            <a:t>- Chosen for its balance of recall, transparency, and ease of deployment</a:t>
          </a:r>
          <a:br>
            <a:rPr lang="en-US" sz="1400" kern="1200"/>
          </a:br>
          <a:r>
            <a:rPr lang="en-US" sz="1400" kern="1200"/>
            <a:t>- Well-suited for healthcare, where interpretability is critical</a:t>
          </a:r>
        </a:p>
      </dsp:txBody>
      <dsp:txXfrm>
        <a:off x="974312" y="360"/>
        <a:ext cx="6398100" cy="843560"/>
      </dsp:txXfrm>
    </dsp:sp>
    <dsp:sp modelId="{237D9DFD-0F37-4940-8DF9-A87748A24A72}">
      <dsp:nvSpPr>
        <dsp:cNvPr id="0" name=""/>
        <dsp:cNvSpPr/>
      </dsp:nvSpPr>
      <dsp:spPr>
        <a:xfrm>
          <a:off x="0" y="1054811"/>
          <a:ext cx="7372413" cy="8435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916F66-AF03-4617-8A23-8548A313B9ED}">
      <dsp:nvSpPr>
        <dsp:cNvPr id="0" name=""/>
        <dsp:cNvSpPr/>
      </dsp:nvSpPr>
      <dsp:spPr>
        <a:xfrm>
          <a:off x="255177" y="1244612"/>
          <a:ext cx="463958" cy="4639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212D7-BA9A-4018-BB5F-FAC81288ED1C}">
      <dsp:nvSpPr>
        <dsp:cNvPr id="0" name=""/>
        <dsp:cNvSpPr/>
      </dsp:nvSpPr>
      <dsp:spPr>
        <a:xfrm>
          <a:off x="974312" y="1054811"/>
          <a:ext cx="6398100" cy="84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77" tIns="89277" rIns="89277" bIns="892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Backup Model</a:t>
          </a:r>
          <a:r>
            <a:rPr lang="en-US" sz="1400" kern="1200"/>
            <a:t>: </a:t>
          </a:r>
          <a:r>
            <a:rPr lang="en-US" sz="1400" i="1" kern="1200"/>
            <a:t>Random Forest</a:t>
          </a:r>
          <a:br>
            <a:rPr lang="en-US" sz="1400" kern="1200"/>
          </a:br>
          <a:r>
            <a:rPr lang="en-US" sz="1400" kern="1200"/>
            <a:t>- Slightly higher recall</a:t>
          </a:r>
          <a:br>
            <a:rPr lang="en-US" sz="1400" kern="1200"/>
          </a:br>
          <a:r>
            <a:rPr lang="en-US" sz="1400" kern="1200"/>
            <a:t>- Reduced interpretability — kept as fallback</a:t>
          </a:r>
        </a:p>
      </dsp:txBody>
      <dsp:txXfrm>
        <a:off x="974312" y="1054811"/>
        <a:ext cx="6398100" cy="843560"/>
      </dsp:txXfrm>
    </dsp:sp>
    <dsp:sp modelId="{A9DBB4A6-DDCA-4B60-9AF6-D100E4702F2F}">
      <dsp:nvSpPr>
        <dsp:cNvPr id="0" name=""/>
        <dsp:cNvSpPr/>
      </dsp:nvSpPr>
      <dsp:spPr>
        <a:xfrm>
          <a:off x="0" y="2109261"/>
          <a:ext cx="7372413" cy="84356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9FAA7A-7979-47AC-9958-E26DB549B579}">
      <dsp:nvSpPr>
        <dsp:cNvPr id="0" name=""/>
        <dsp:cNvSpPr/>
      </dsp:nvSpPr>
      <dsp:spPr>
        <a:xfrm>
          <a:off x="255177" y="2299063"/>
          <a:ext cx="463958" cy="4639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74258-C2BA-491D-B5FF-D71F28F68B20}">
      <dsp:nvSpPr>
        <dsp:cNvPr id="0" name=""/>
        <dsp:cNvSpPr/>
      </dsp:nvSpPr>
      <dsp:spPr>
        <a:xfrm>
          <a:off x="974312" y="2109261"/>
          <a:ext cx="6398100" cy="843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277" tIns="89277" rIns="89277" bIns="892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Excluded Models</a:t>
          </a:r>
          <a:r>
            <a:rPr lang="en-US" sz="1400" kern="1200"/>
            <a:t>:</a:t>
          </a:r>
          <a:br>
            <a:rPr lang="en-US" sz="1400" kern="1200"/>
          </a:br>
          <a:r>
            <a:rPr lang="en-US" sz="1400" kern="1200"/>
            <a:t>- </a:t>
          </a:r>
          <a:r>
            <a:rPr lang="en-US" sz="1400" i="1" kern="1200"/>
            <a:t>CatBoost</a:t>
          </a:r>
          <a:r>
            <a:rPr lang="en-US" sz="1400" kern="1200"/>
            <a:t>: High accuracy, but low recall — misses too many at-risk patients</a:t>
          </a:r>
          <a:br>
            <a:rPr lang="en-US" sz="1400" kern="1200"/>
          </a:br>
          <a:r>
            <a:rPr lang="en-US" sz="1400" kern="1200"/>
            <a:t>- </a:t>
          </a:r>
          <a:r>
            <a:rPr lang="en-US" sz="1400" i="1" kern="1200"/>
            <a:t>XGBoost</a:t>
          </a:r>
          <a:r>
            <a:rPr lang="en-US" sz="1400" kern="1200"/>
            <a:t>: Highest recall, but low accuracy — too many false positives for clinical use</a:t>
          </a:r>
        </a:p>
      </dsp:txBody>
      <dsp:txXfrm>
        <a:off x="974312" y="2109261"/>
        <a:ext cx="6398100" cy="843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66AF4-AF5E-654C-98B1-4C567295EF12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7BBA17-7AE7-6847-9DA9-B7CB6FE9A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0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“Here you can see the ROC curve from batch inference on validation data. The AUC is around 0.64 — similar to our test set.”</a:t>
            </a:r>
          </a:p>
          <a:p>
            <a:r>
              <a:rPr lang="en-US" dirty="0"/>
              <a:t>“Confusion matrix shows class imbalance — the model is more conservative in predicting readmissions, which is expected with our Logistic Regression setup.”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7BBA17-7AE7-6847-9DA9-B7CB6FE9A1B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39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0" name="Rectangle 112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Freeform: Shape 113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72088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784" y="-1461193"/>
            <a:ext cx="9141714" cy="4567137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b="1" kern="1200" dirty="0">
                <a:latin typeface="+mj-lt"/>
                <a:ea typeface="+mj-ea"/>
                <a:cs typeface="+mj-cs"/>
              </a:rPr>
              <a:t>Hospital Readmission 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679489" y="6206467"/>
            <a:ext cx="10702804" cy="1019480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Team 2 : </a:t>
            </a:r>
            <a:r>
              <a:rPr lang="en-US" sz="1600" dirty="0">
                <a:solidFill>
                  <a:schemeClr val="tx1"/>
                </a:solidFill>
              </a:rPr>
              <a:t>Muhammad Haris, </a:t>
            </a:r>
            <a:r>
              <a:rPr lang="en-US" sz="1600" dirty="0" err="1">
                <a:solidFill>
                  <a:schemeClr val="tx1"/>
                </a:solidFill>
              </a:rPr>
              <a:t>Suvo</a:t>
            </a:r>
            <a:r>
              <a:rPr lang="en-US" sz="1600" dirty="0">
                <a:solidFill>
                  <a:schemeClr val="tx1"/>
                </a:solidFill>
              </a:rPr>
              <a:t> Ganguli, Daniel Shifrin</a:t>
            </a:r>
            <a:endParaRPr lang="en-US" sz="1200" dirty="0">
              <a:solidFill>
                <a:schemeClr val="tx1"/>
              </a:solidFill>
            </a:endParaRPr>
          </a:p>
        </p:txBody>
      </p:sp>
      <p:pic>
        <p:nvPicPr>
          <p:cNvPr id="1026" name="Picture 2" descr="A Machine Learning Approach to Predicting Hospital Readmissions | by Great  Learning Snippets | Medium">
            <a:extLst>
              <a:ext uri="{FF2B5EF4-FFF2-40B4-BE49-F238E27FC236}">
                <a16:creationId xmlns:a16="http://schemas.microsoft.com/office/drawing/2014/main" id="{D65D42E9-BA13-2942-1A9B-6EC21B014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12" r="-2" b="-2"/>
          <a:stretch>
            <a:fillRect/>
          </a:stretch>
        </p:blipFill>
        <p:spPr bwMode="auto">
          <a:xfrm>
            <a:off x="2317514" y="2508308"/>
            <a:ext cx="4708797" cy="3596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E92D56-A8D6-2DFA-9446-853F5644E7A5}"/>
              </a:ext>
            </a:extLst>
          </p:cNvPr>
          <p:cNvSpPr txBox="1"/>
          <p:nvPr/>
        </p:nvSpPr>
        <p:spPr>
          <a:xfrm>
            <a:off x="914400" y="1596811"/>
            <a:ext cx="7488115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AAI-540: Machine Learning Operations</a:t>
            </a:r>
          </a:p>
          <a:p>
            <a:pPr algn="ctr" defTabSz="914400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</a:rPr>
              <a:t>University of San Diego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40830-2272-7761-5F4E-E470822E0ED9}"/>
              </a:ext>
            </a:extLst>
          </p:cNvPr>
          <p:cNvSpPr/>
          <p:nvPr/>
        </p:nvSpPr>
        <p:spPr>
          <a:xfrm>
            <a:off x="-2286" y="0"/>
            <a:ext cx="9144000" cy="11723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7713B-070B-62A6-4D0E-B2B2C2045119}"/>
              </a:ext>
            </a:extLst>
          </p:cNvPr>
          <p:cNvSpPr/>
          <p:nvPr/>
        </p:nvSpPr>
        <p:spPr>
          <a:xfrm>
            <a:off x="0" y="6716207"/>
            <a:ext cx="9144000" cy="11723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203" y="137123"/>
            <a:ext cx="7549592" cy="1298448"/>
          </a:xfrm>
        </p:spPr>
        <p:txBody>
          <a:bodyPr anchor="b">
            <a:normAutofit/>
          </a:bodyPr>
          <a:lstStyle/>
          <a:p>
            <a:r>
              <a:rPr lang="en-US" sz="4200" b="1" dirty="0"/>
              <a:t>Business Use Case &amp; Problem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143" y="2225383"/>
            <a:ext cx="4143003" cy="3787627"/>
          </a:xfrm>
        </p:spPr>
        <p:txBody>
          <a:bodyPr anchor="ctr">
            <a:normAutofit/>
          </a:bodyPr>
          <a:lstStyle/>
          <a:p>
            <a:pPr>
              <a:lnSpc>
                <a:spcPct val="170000"/>
              </a:lnSpc>
            </a:pPr>
            <a:endParaRPr lang="en-US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000" b="1" dirty="0"/>
              <a:t>Hospital readmissions </a:t>
            </a:r>
            <a:r>
              <a:rPr lang="en-US" sz="2000" dirty="0"/>
              <a:t>are costly and indicative of care quality issues. Our goal is to predict high-risk patients using machine learning, enabling early interventions, better outcomes, and reduced costs.</a:t>
            </a:r>
          </a:p>
        </p:txBody>
      </p:sp>
      <p:pic>
        <p:nvPicPr>
          <p:cNvPr id="2050" name="Picture 2" descr="Predict Hospital Readmission Machine Learning - AI Cases">
            <a:extLst>
              <a:ext uri="{FF2B5EF4-FFF2-40B4-BE49-F238E27FC236}">
                <a16:creationId xmlns:a16="http://schemas.microsoft.com/office/drawing/2014/main" id="{B84E50CC-1CD3-E911-13BB-A0CA07577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32" r="20151" b="2"/>
          <a:stretch>
            <a:fillRect/>
          </a:stretch>
        </p:blipFill>
        <p:spPr bwMode="auto">
          <a:xfrm>
            <a:off x="4433649" y="2484255"/>
            <a:ext cx="3862707" cy="371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922919"/>
            <a:ext cx="8333796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267" y="325767"/>
            <a:ext cx="3961874" cy="1540288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Dataset Overview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4913" y="2372170"/>
            <a:ext cx="329184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376" y="2187080"/>
            <a:ext cx="5104196" cy="3876066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Dataset: </a:t>
            </a:r>
            <a:r>
              <a:rPr lang="en-US" sz="2000" dirty="0"/>
              <a:t>Diabetes 130-US hospitals dataset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100K+ de-identified patient encounters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Features: </a:t>
            </a:r>
            <a:r>
              <a:rPr lang="en-US" sz="2000" dirty="0"/>
              <a:t>demographics, diagnosis, treatment codes, discharge info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Target: </a:t>
            </a:r>
            <a:r>
              <a:rPr lang="en-US" sz="2000" dirty="0"/>
              <a:t>30-day readmission (binary classification)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1FA65-0357-A320-5D45-55D9D87D16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798" r="21572" b="-1"/>
          <a:stretch>
            <a:fillRect/>
          </a:stretch>
        </p:blipFill>
        <p:spPr>
          <a:xfrm>
            <a:off x="5700571" y="1189696"/>
            <a:ext cx="3170297" cy="4214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C43CB-EC13-BE26-A48D-DAB464DF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31" y="825008"/>
            <a:ext cx="6056111" cy="647576"/>
          </a:xfrm>
        </p:spPr>
        <p:txBody>
          <a:bodyPr anchor="ctr">
            <a:noAutofit/>
          </a:bodyPr>
          <a:lstStyle/>
          <a:p>
            <a:r>
              <a:rPr lang="en-US" sz="4000" b="1" dirty="0"/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75BEA-6A27-9D33-29D0-F75BCB156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674317"/>
            <a:ext cx="7526927" cy="4095547"/>
          </a:xfrm>
        </p:spPr>
        <p:txBody>
          <a:bodyPr anchor="t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2400" dirty="0"/>
              <a:t>Developed a hospital readmission prediction system using the UCI Diabetes dataset.</a:t>
            </a:r>
          </a:p>
          <a:p>
            <a:pPr>
              <a:spcAft>
                <a:spcPts val="600"/>
              </a:spcAft>
            </a:pPr>
            <a:r>
              <a:rPr lang="en-US" sz="2400" b="1" dirty="0"/>
              <a:t>Phase 1</a:t>
            </a:r>
            <a:r>
              <a:rPr lang="en-US" sz="2400" dirty="0"/>
              <a:t>: Model Design → </a:t>
            </a:r>
            <a:r>
              <a:rPr lang="en-US" sz="2400" i="1" dirty="0"/>
              <a:t>Logistic Regression</a:t>
            </a:r>
            <a:r>
              <a:rPr lang="en-US" sz="2400" dirty="0"/>
              <a:t> selected (out of 4 models)</a:t>
            </a:r>
          </a:p>
          <a:p>
            <a:r>
              <a:rPr lang="en-US" sz="2400" b="1" dirty="0"/>
              <a:t>Phase 2</a:t>
            </a:r>
            <a:r>
              <a:rPr lang="en-US" sz="2400" dirty="0"/>
              <a:t>: SageMaker pipeline built for:</a:t>
            </a:r>
            <a:br>
              <a:rPr lang="en-US" sz="2400" dirty="0"/>
            </a:br>
            <a:r>
              <a:rPr lang="en-US" sz="2400" dirty="0"/>
              <a:t>- Data ingestion</a:t>
            </a:r>
            <a:br>
              <a:rPr lang="en-US" sz="2400" dirty="0"/>
            </a:br>
            <a:r>
              <a:rPr lang="en-US" sz="2400" dirty="0"/>
              <a:t>- Feature engineering</a:t>
            </a:r>
            <a:br>
              <a:rPr lang="en-US" sz="2400" dirty="0"/>
            </a:br>
            <a:r>
              <a:rPr lang="en-US" sz="2400" dirty="0"/>
              <a:t>- Model training and evaluation</a:t>
            </a:r>
            <a:br>
              <a:rPr lang="en-US" sz="2400" dirty="0"/>
            </a:br>
            <a:r>
              <a:rPr lang="en-US" sz="2400" dirty="0"/>
              <a:t>- Batch inference</a:t>
            </a:r>
            <a:br>
              <a:rPr lang="en-US" sz="2400" dirty="0"/>
            </a:br>
            <a:r>
              <a:rPr lang="en-US" sz="2400" dirty="0"/>
              <a:t>- Simulated CI/CD &amp; bias monitoring</a:t>
            </a:r>
          </a:p>
          <a:p>
            <a:endParaRPr lang="en-US" sz="2100" dirty="0"/>
          </a:p>
        </p:txBody>
      </p:sp>
      <p:pic>
        <p:nvPicPr>
          <p:cNvPr id="6" name="Video 5">
            <a:extLst>
              <a:ext uri="{FF2B5EF4-FFF2-40B4-BE49-F238E27FC236}">
                <a16:creationId xmlns:a16="http://schemas.microsoft.com/office/drawing/2014/main" id="{6C88C618-7BDE-AB6F-7F9E-0EFCDF3A82CF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2227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64431-F1DD-5D0E-44D0-A7E28A179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405" y="410674"/>
            <a:ext cx="2986391" cy="2216513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/>
              <a:t>Phase 1: Model Selection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6164896" y="3712762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11AD00D-50E3-7005-1DEE-37A1027E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153" y="856493"/>
            <a:ext cx="5209442" cy="1393526"/>
          </a:xfrm>
          <a:custGeom>
            <a:avLst/>
            <a:gdLst/>
            <a:ahLst/>
            <a:cxnLst/>
            <a:rect l="l" t="t" r="r" b="b"/>
            <a:pathLst>
              <a:path w="10580201" h="2957472">
                <a:moveTo>
                  <a:pt x="88961" y="0"/>
                </a:moveTo>
                <a:lnTo>
                  <a:pt x="10491240" y="0"/>
                </a:lnTo>
                <a:cubicBezTo>
                  <a:pt x="10540372" y="0"/>
                  <a:pt x="10580201" y="39829"/>
                  <a:pt x="10580201" y="88961"/>
                </a:cubicBezTo>
                <a:lnTo>
                  <a:pt x="10580201" y="2868511"/>
                </a:lnTo>
                <a:cubicBezTo>
                  <a:pt x="10580201" y="2917643"/>
                  <a:pt x="10540372" y="2957472"/>
                  <a:pt x="10491240" y="2957472"/>
                </a:cubicBezTo>
                <a:lnTo>
                  <a:pt x="88961" y="2957472"/>
                </a:lnTo>
                <a:cubicBezTo>
                  <a:pt x="39829" y="2957472"/>
                  <a:pt x="0" y="2917643"/>
                  <a:pt x="0" y="2868511"/>
                </a:cubicBezTo>
                <a:lnTo>
                  <a:pt x="0" y="88961"/>
                </a:lnTo>
                <a:cubicBezTo>
                  <a:pt x="0" y="39829"/>
                  <a:pt x="39829" y="0"/>
                  <a:pt x="88961" y="0"/>
                </a:cubicBezTo>
                <a:close/>
              </a:path>
            </a:pathLst>
          </a:custGeom>
          <a:ln w="31750">
            <a:solidFill>
              <a:srgbClr val="7030A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C1DBA44C-7F0D-8271-8F32-B7544D63C3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1641423"/>
              </p:ext>
            </p:extLst>
          </p:nvPr>
        </p:nvGraphicFramePr>
        <p:xfrm>
          <a:off x="495446" y="3205425"/>
          <a:ext cx="7372413" cy="29531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1AB942B-02AD-C1DE-7EC2-F5A6A4016592}"/>
              </a:ext>
            </a:extLst>
          </p:cNvPr>
          <p:cNvSpPr txBox="1">
            <a:spLocks/>
          </p:cNvSpPr>
          <p:nvPr/>
        </p:nvSpPr>
        <p:spPr>
          <a:xfrm>
            <a:off x="495446" y="2627187"/>
            <a:ext cx="5860980" cy="507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/>
              <a:t>Model comparison and rationale for final selection</a:t>
            </a:r>
          </a:p>
        </p:txBody>
      </p:sp>
      <p:pic>
        <p:nvPicPr>
          <p:cNvPr id="10" name="Video 9">
            <a:extLst>
              <a:ext uri="{FF2B5EF4-FFF2-40B4-BE49-F238E27FC236}">
                <a16:creationId xmlns:a16="http://schemas.microsoft.com/office/drawing/2014/main" id="{9E9E803D-9EF6-7061-CA8E-9EB015E775DD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3396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697D35-1B0E-9E5D-7331-E3D2A5151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68F329-A881-1532-2816-5CFF14D5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dirty="0"/>
              <a:t>Phase 2: System Architecture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3650E1E-3786-1820-2964-17085BFCE47F}"/>
              </a:ext>
            </a:extLst>
          </p:cNvPr>
          <p:cNvGrpSpPr/>
          <p:nvPr/>
        </p:nvGrpSpPr>
        <p:grpSpPr>
          <a:xfrm>
            <a:off x="1117150" y="1926266"/>
            <a:ext cx="6909699" cy="4357524"/>
            <a:chOff x="876635" y="1577338"/>
            <a:chExt cx="7728202" cy="487370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A4CF582-6199-9068-0109-95FA6D11A174}"/>
                </a:ext>
              </a:extLst>
            </p:cNvPr>
            <p:cNvGrpSpPr/>
            <p:nvPr/>
          </p:nvGrpSpPr>
          <p:grpSpPr>
            <a:xfrm>
              <a:off x="886681" y="1577338"/>
              <a:ext cx="7718156" cy="4873704"/>
              <a:chOff x="5037224" y="3146686"/>
              <a:chExt cx="3559136" cy="2372757"/>
            </a:xfrm>
          </p:grpSpPr>
          <p:pic>
            <p:nvPicPr>
              <p:cNvPr id="9" name="Picture 8" descr="A diagram of a software development process&#10;&#10;AI-generated content may be incorrect.">
                <a:extLst>
                  <a:ext uri="{FF2B5EF4-FFF2-40B4-BE49-F238E27FC236}">
                    <a16:creationId xmlns:a16="http://schemas.microsoft.com/office/drawing/2014/main" id="{0B0A934B-C75C-2A5F-7904-83AC8BC6B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37224" y="3146686"/>
                <a:ext cx="3559136" cy="2372757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D309DED-115E-F79E-B729-DE4FECB17323}"/>
                  </a:ext>
                </a:extLst>
              </p:cNvPr>
              <p:cNvSpPr txBox="1"/>
              <p:nvPr/>
            </p:nvSpPr>
            <p:spPr>
              <a:xfrm>
                <a:off x="5661423" y="3768034"/>
                <a:ext cx="622873" cy="22308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defTabSz="406908">
                  <a:spcAft>
                    <a:spcPts val="600"/>
                  </a:spcAft>
                </a:pPr>
                <a:r>
                  <a:rPr lang="en-US" sz="9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Oneshot Encoding</a:t>
                </a:r>
              </a:p>
              <a:p>
                <a:pPr defTabSz="406908">
                  <a:spcAft>
                    <a:spcPts val="600"/>
                  </a:spcAft>
                </a:pPr>
                <a:r>
                  <a:rPr lang="en-US" sz="979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Data Splitting</a:t>
                </a:r>
                <a:endParaRPr lang="en-US" sz="110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506DF91-0A75-CB48-433C-94717A5AA7EB}"/>
                </a:ext>
              </a:extLst>
            </p:cNvPr>
            <p:cNvSpPr txBox="1"/>
            <p:nvPr/>
          </p:nvSpPr>
          <p:spPr>
            <a:xfrm>
              <a:off x="5825918" y="4498447"/>
              <a:ext cx="1175322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9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Hourly                   </a:t>
              </a:r>
            </a:p>
            <a:p>
              <a:pPr defTabSz="406908">
                <a:spcAft>
                  <a:spcPts val="600"/>
                </a:spcAft>
              </a:pPr>
              <a:r>
                <a:rPr lang="en-US" sz="9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On Demand</a:t>
              </a:r>
              <a:endParaRPr lang="en-US" sz="11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F2FF51E-DDD8-3243-2E9F-69C653EE6516}"/>
                </a:ext>
              </a:extLst>
            </p:cNvPr>
            <p:cNvSpPr txBox="1"/>
            <p:nvPr/>
          </p:nvSpPr>
          <p:spPr>
            <a:xfrm>
              <a:off x="876635" y="1753805"/>
              <a:ext cx="1354282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1. Data Ingestion</a:t>
              </a:r>
            </a:p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and Feature Store </a:t>
              </a:r>
            </a:p>
            <a:p>
              <a:pPr>
                <a:spcAft>
                  <a:spcPts val="600"/>
                </a:spcAft>
              </a:pPr>
              <a:endParaRPr lang="en-US" sz="1200" b="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C2C7983-4EC9-018E-D31C-9CC0F8D5ACBE}"/>
                </a:ext>
              </a:extLst>
            </p:cNvPr>
            <p:cNvSpPr txBox="1"/>
            <p:nvPr/>
          </p:nvSpPr>
          <p:spPr>
            <a:xfrm>
              <a:off x="2240286" y="1742490"/>
              <a:ext cx="161877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2. Feature Engineering</a:t>
              </a:r>
            </a:p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and Data Preparation</a:t>
              </a:r>
              <a:endParaRPr lang="en-US" sz="1200" b="1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8CAD17-9227-E940-CDEB-417C42E666B7}"/>
                </a:ext>
              </a:extLst>
            </p:cNvPr>
            <p:cNvSpPr txBox="1"/>
            <p:nvPr/>
          </p:nvSpPr>
          <p:spPr>
            <a:xfrm>
              <a:off x="3895157" y="1742489"/>
              <a:ext cx="146264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3. Model Training</a:t>
              </a:r>
            </a:p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4. Model Evaluation</a:t>
              </a:r>
              <a:endParaRPr lang="en-US" sz="1200" b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AF6DA6C-3C61-EC0E-C40B-2449A01F06F9}"/>
                </a:ext>
              </a:extLst>
            </p:cNvPr>
            <p:cNvSpPr txBox="1"/>
            <p:nvPr/>
          </p:nvSpPr>
          <p:spPr>
            <a:xfrm>
              <a:off x="5669871" y="1772632"/>
              <a:ext cx="133491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6. Batch Inference</a:t>
              </a:r>
            </a:p>
            <a:p>
              <a:pPr>
                <a:spcAft>
                  <a:spcPts val="600"/>
                </a:spcAft>
              </a:pPr>
              <a:endParaRPr lang="en-US" sz="1200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ABAF25-FF58-A82E-7B0B-19E8723FCEA7}"/>
                </a:ext>
              </a:extLst>
            </p:cNvPr>
            <p:cNvSpPr txBox="1"/>
            <p:nvPr/>
          </p:nvSpPr>
          <p:spPr>
            <a:xfrm>
              <a:off x="4092640" y="2853603"/>
              <a:ext cx="105028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9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Model Training</a:t>
              </a:r>
              <a:endParaRPr lang="en-US" sz="11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E88F546-6FFD-5EBA-5F5B-A9765C737FCE}"/>
                </a:ext>
              </a:extLst>
            </p:cNvPr>
            <p:cNvSpPr txBox="1"/>
            <p:nvPr/>
          </p:nvSpPr>
          <p:spPr>
            <a:xfrm>
              <a:off x="5769506" y="2951910"/>
              <a:ext cx="1133644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9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Batch Transform</a:t>
              </a:r>
            </a:p>
            <a:p>
              <a:pPr>
                <a:spcAft>
                  <a:spcPts val="600"/>
                </a:spcAft>
              </a:pPr>
              <a:endParaRPr lang="en-US" sz="11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AE5F81-7250-8EEB-76D0-AE922283C150}"/>
                </a:ext>
              </a:extLst>
            </p:cNvPr>
            <p:cNvSpPr txBox="1"/>
            <p:nvPr/>
          </p:nvSpPr>
          <p:spPr>
            <a:xfrm>
              <a:off x="7277256" y="1752537"/>
              <a:ext cx="92044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7. CI/CD      </a:t>
              </a:r>
            </a:p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Pipeline</a:t>
              </a:r>
              <a:endParaRPr lang="en-US" sz="1200" b="1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ED85F8F-B6C9-7CFD-3479-3273CF6AF6B8}"/>
                </a:ext>
              </a:extLst>
            </p:cNvPr>
            <p:cNvSpPr txBox="1"/>
            <p:nvPr/>
          </p:nvSpPr>
          <p:spPr>
            <a:xfrm>
              <a:off x="5669870" y="4272375"/>
              <a:ext cx="132132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5. Model Monitor</a:t>
              </a:r>
              <a:endParaRPr lang="en-US" sz="1200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256413-18A2-7427-DF7B-05405DCB1AB0}"/>
                </a:ext>
              </a:extLst>
            </p:cNvPr>
            <p:cNvSpPr txBox="1"/>
            <p:nvPr/>
          </p:nvSpPr>
          <p:spPr>
            <a:xfrm>
              <a:off x="3895157" y="4318541"/>
              <a:ext cx="142468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Model Deployment</a:t>
              </a:r>
            </a:p>
            <a:p>
              <a:pPr>
                <a:spcAft>
                  <a:spcPts val="600"/>
                </a:spcAft>
              </a:pPr>
              <a:endParaRPr lang="en-US" sz="1200" b="1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D5179F-A182-E03C-567D-A7960720F148}"/>
                </a:ext>
              </a:extLst>
            </p:cNvPr>
            <p:cNvSpPr txBox="1"/>
            <p:nvPr/>
          </p:nvSpPr>
          <p:spPr>
            <a:xfrm>
              <a:off x="2106263" y="5482150"/>
              <a:ext cx="148322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1068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Offline Bias Monitor</a:t>
              </a:r>
              <a:endParaRPr lang="en-US" sz="1200" b="1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8CAACC-8A71-FF75-25EB-FABCD985811F}"/>
                </a:ext>
              </a:extLst>
            </p:cNvPr>
            <p:cNvSpPr txBox="1"/>
            <p:nvPr/>
          </p:nvSpPr>
          <p:spPr>
            <a:xfrm>
              <a:off x="2260215" y="5759149"/>
              <a:ext cx="122020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defTabSz="406908">
                <a:spcAft>
                  <a:spcPts val="600"/>
                </a:spcAft>
              </a:pPr>
              <a:r>
                <a:rPr lang="en-US" sz="9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SageMaker Clarify</a:t>
              </a:r>
            </a:p>
            <a:p>
              <a:pPr defTabSz="406908">
                <a:spcAft>
                  <a:spcPts val="600"/>
                </a:spcAft>
              </a:pPr>
              <a:r>
                <a:rPr lang="en-US" sz="97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Audit predictions</a:t>
              </a:r>
              <a:endParaRPr lang="en-US" sz="1100"/>
            </a:p>
          </p:txBody>
        </p:sp>
      </p:grpSp>
      <p:pic>
        <p:nvPicPr>
          <p:cNvPr id="25" name="Video 24">
            <a:extLst>
              <a:ext uri="{FF2B5EF4-FFF2-40B4-BE49-F238E27FC236}">
                <a16:creationId xmlns:a16="http://schemas.microsoft.com/office/drawing/2014/main" id="{73BC3A6A-47D2-1FFB-4637-6CB66E9020B8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0188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4" name="Rectangle 411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64" y="525982"/>
            <a:ext cx="4106429" cy="1200361"/>
          </a:xfrm>
        </p:spPr>
        <p:txBody>
          <a:bodyPr anchor="b">
            <a:normAutofit fontScale="90000"/>
          </a:bodyPr>
          <a:lstStyle/>
          <a:p>
            <a:r>
              <a:rPr lang="en-US" sz="4000" b="1" dirty="0"/>
              <a:t>Feature Store &amp; Engineering</a:t>
            </a:r>
          </a:p>
        </p:txBody>
      </p:sp>
      <p:sp>
        <p:nvSpPr>
          <p:cNvPr id="4115" name="Rectangle 4114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2399" y="1944913"/>
            <a:ext cx="30175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4" y="1972345"/>
            <a:ext cx="4146975" cy="3511943"/>
          </a:xfrm>
        </p:spPr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Ingested cleaned data into SageMaker Feature Store (online &amp; offline modes)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Queried features using Athena for consistency and versioning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Applied preprocessing: missing value handling, one-hot encoding, scaling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Created training, validation, and test sets for downstream tasks</a:t>
            </a:r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61965" y="6072626"/>
            <a:ext cx="740664" cy="11559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6109" y="1694387"/>
            <a:ext cx="740664" cy="88751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72594" y="354959"/>
            <a:ext cx="4638730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2O AI Feature Store">
            <a:extLst>
              <a:ext uri="{FF2B5EF4-FFF2-40B4-BE49-F238E27FC236}">
                <a16:creationId xmlns:a16="http://schemas.microsoft.com/office/drawing/2014/main" id="{9F3E6F07-34A8-AD82-59A7-76F0587A3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0803" y="1434872"/>
            <a:ext cx="4221014" cy="3755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Video 5">
            <a:extLst>
              <a:ext uri="{FF2B5EF4-FFF2-40B4-BE49-F238E27FC236}">
                <a16:creationId xmlns:a16="http://schemas.microsoft.com/office/drawing/2014/main" id="{0A804EAA-19F6-67B1-1FBC-0F0A8048E160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9" name="Rectangle 5128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31" name="Group 5130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5132" name="Rectangle 5131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3" name="Rectangle 5132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5" name="Rectangle 5134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949" y="587381"/>
            <a:ext cx="4370232" cy="1511770"/>
          </a:xfrm>
        </p:spPr>
        <p:txBody>
          <a:bodyPr anchor="b">
            <a:normAutofit/>
          </a:bodyPr>
          <a:lstStyle/>
          <a:p>
            <a:pPr algn="l"/>
            <a:r>
              <a:rPr lang="en-US" sz="3600" b="1" dirty="0"/>
              <a:t>Model Training &amp; Evaluation</a:t>
            </a:r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840" y="2323312"/>
            <a:ext cx="4550523" cy="363249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Trained Logistic Regression using SageMaker with standardized features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Used Pipeline (</a:t>
            </a:r>
            <a:r>
              <a:rPr lang="en-US" sz="1800" dirty="0" err="1"/>
              <a:t>StandardScaler</a:t>
            </a:r>
            <a:r>
              <a:rPr lang="en-US" sz="1800" dirty="0"/>
              <a:t>, </a:t>
            </a:r>
            <a:r>
              <a:rPr lang="en-US" sz="1800" dirty="0" err="1"/>
              <a:t>LogisticRegression</a:t>
            </a:r>
            <a:r>
              <a:rPr lang="en-US" sz="1800" dirty="0"/>
              <a:t>) on training set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Evaluated on test set:</a:t>
            </a:r>
            <a:br>
              <a:rPr lang="en-US" sz="1800" dirty="0"/>
            </a:br>
            <a:r>
              <a:rPr lang="en-US" sz="1800" dirty="0"/>
              <a:t>- Accuracy: 0.65</a:t>
            </a:r>
            <a:br>
              <a:rPr lang="en-US" sz="1800" dirty="0"/>
            </a:br>
            <a:r>
              <a:rPr lang="en-US" sz="1800" dirty="0"/>
              <a:t>- Recall (Readmitted): 0.54</a:t>
            </a:r>
            <a:br>
              <a:rPr lang="en-US" sz="1800" dirty="0"/>
            </a:br>
            <a:r>
              <a:rPr lang="en-US" sz="1800" dirty="0"/>
              <a:t>- ROC AUC: 0.65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Model artifact saved and uploaded to S3 for 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4FFDF-51E6-529F-F91A-2425013B9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00" y="966220"/>
            <a:ext cx="3291840" cy="2197303"/>
          </a:xfrm>
          <a:prstGeom prst="rect">
            <a:avLst/>
          </a:prstGeom>
        </p:spPr>
      </p:pic>
      <p:pic>
        <p:nvPicPr>
          <p:cNvPr id="5124" name="Picture 4" descr="Logistic Regression. In this article, you will learn about… | by Thanmai  Chandaka | Medium">
            <a:extLst>
              <a:ext uri="{FF2B5EF4-FFF2-40B4-BE49-F238E27FC236}">
                <a16:creationId xmlns:a16="http://schemas.microsoft.com/office/drawing/2014/main" id="{5B3F513C-E801-D6B6-2FA8-71A73B682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0000" y="3960404"/>
            <a:ext cx="3291840" cy="181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LightGBM vs. XGBoost: Battle of the Boosting Algorithms in Python">
            <a:extLst>
              <a:ext uri="{FF2B5EF4-FFF2-40B4-BE49-F238E27FC236}">
                <a16:creationId xmlns:a16="http://schemas.microsoft.com/office/drawing/2014/main" id="{A1AC5882-11F8-99DD-42DD-E77A850507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Video 9">
            <a:extLst>
              <a:ext uri="{FF2B5EF4-FFF2-40B4-BE49-F238E27FC236}">
                <a16:creationId xmlns:a16="http://schemas.microsoft.com/office/drawing/2014/main" id="{9A6879EC-E023-7CBE-C03A-600813FCDBE6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3" name="Rectangle 6152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70" y="856180"/>
            <a:ext cx="3959556" cy="112806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/>
              <a:t>Batch Inference</a:t>
            </a:r>
          </a:p>
        </p:txBody>
      </p: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6156" name="Rectangle 615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57" name="Rectangle 615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59" name="Rectangle 6158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813" y="2123821"/>
            <a:ext cx="373130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217" y="2294445"/>
            <a:ext cx="5113699" cy="3979585"/>
          </a:xfrm>
        </p:spPr>
        <p:txBody>
          <a:bodyPr anchor="ctr"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Used SageMaker Batch Transform with validation dataset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Packaged model + inference script into deployable archive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Predictions saved to S3 and evaluated for performance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Validation results consistent with test set:</a:t>
            </a:r>
            <a:br>
              <a:rPr lang="en-US" sz="2000" dirty="0"/>
            </a:br>
            <a:r>
              <a:rPr lang="en-US" sz="2000" dirty="0"/>
              <a:t>– ROC AUC ≈ 0.64 (Balanced recall and accuracy)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Output used for offline bias monitoring and CI/CD simulation</a:t>
            </a:r>
          </a:p>
          <a:p>
            <a:pPr marL="0" indent="0">
              <a:spcAft>
                <a:spcPts val="600"/>
              </a:spcAft>
              <a:buNone/>
            </a:pPr>
            <a:endParaRPr lang="en-US" sz="2000" dirty="0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3" name="Rectangle 616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7447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5" name="Rectangle 6164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7265" y="3505479"/>
            <a:ext cx="3634116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0C38FB-9073-AA1B-99C1-B3C1E1136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181" y="3576968"/>
            <a:ext cx="3283256" cy="27596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68BE84-A348-4ADB-D6B0-3A8554825D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094" y="556920"/>
            <a:ext cx="3570084" cy="2638455"/>
          </a:xfrm>
          <a:prstGeom prst="rect">
            <a:avLst/>
          </a:prstGeom>
        </p:spPr>
      </p:pic>
      <p:pic>
        <p:nvPicPr>
          <p:cNvPr id="8" name="Video 7">
            <a:extLst>
              <a:ext uri="{FF2B5EF4-FFF2-40B4-BE49-F238E27FC236}">
                <a16:creationId xmlns:a16="http://schemas.microsoft.com/office/drawing/2014/main" id="{BD7235FD-8214-2475-08E0-F3A7A995A011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Monitoring &amp; Registry</a:t>
            </a:r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39" y="2397927"/>
            <a:ext cx="4433649" cy="363945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800" dirty="0"/>
              <a:t>Registered final Logistic Regression model for downstream use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Created baseline constraints and statistics using test data (json format)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Model Monitor jobs (hourly &amp; on-demand) </a:t>
            </a:r>
            <a:r>
              <a:rPr lang="en-US" sz="1800" b="1" dirty="0"/>
              <a:t>simulated</a:t>
            </a:r>
            <a:r>
              <a:rPr lang="en-US" sz="1800" dirty="0"/>
              <a:t> in CI/CD stage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Registry approval logic tied to monitoring outcomes</a:t>
            </a:r>
          </a:p>
        </p:txBody>
      </p:sp>
      <p:pic>
        <p:nvPicPr>
          <p:cNvPr id="7170" name="Picture 2" descr="Truckstop.com purchases Registry Monitoring Insurance Services">
            <a:extLst>
              <a:ext uri="{FF2B5EF4-FFF2-40B4-BE49-F238E27FC236}">
                <a16:creationId xmlns:a16="http://schemas.microsoft.com/office/drawing/2014/main" id="{0AE12B23-D232-9AEF-F014-D6366BB3B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5034" y="2991517"/>
            <a:ext cx="3641996" cy="241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1" name="Rectangle 718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1" name="Rectangle 8200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03" name="Group 820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2849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8204" name="Rectangle 820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5" name="Rectangle 820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6" name="Rectangle 820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08" name="Rectangle 820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656150"/>
            <a:ext cx="4193090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73940"/>
            <a:ext cx="3696218" cy="1035781"/>
          </a:xfrm>
        </p:spPr>
        <p:txBody>
          <a:bodyPr anchor="ctr">
            <a:normAutofit/>
          </a:bodyPr>
          <a:lstStyle/>
          <a:p>
            <a:r>
              <a:rPr lang="en-US" sz="3600" b="1" dirty="0"/>
              <a:t>CI/CD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475" y="2369824"/>
            <a:ext cx="4526259" cy="3586973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000" dirty="0"/>
              <a:t>Simulated CI/CD pipeline in SageMaker to validate deployment logic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Used monitoring outcomes as quality gates for model approval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Auto-approved model if no violations; rejected if drift detected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Demonstrated </a:t>
            </a:r>
            <a:r>
              <a:rPr lang="en-US" sz="2000" dirty="0" err="1"/>
              <a:t>MLOps</a:t>
            </a:r>
            <a:r>
              <a:rPr lang="en-US" sz="2000" dirty="0"/>
              <a:t> best practices despite lab constraints</a:t>
            </a:r>
          </a:p>
        </p:txBody>
      </p:sp>
      <p:sp>
        <p:nvSpPr>
          <p:cNvPr id="8210" name="Rectangle 8209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658367"/>
            <a:ext cx="3539537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Implementing QA in a CI/CD Pipeline - Parasoft">
            <a:extLst>
              <a:ext uri="{FF2B5EF4-FFF2-40B4-BE49-F238E27FC236}">
                <a16:creationId xmlns:a16="http://schemas.microsoft.com/office/drawing/2014/main" id="{6699F8FF-FFE8-BC1F-4BD1-EEC16C9EF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30799" y="971114"/>
            <a:ext cx="3229429" cy="205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2" name="Rectangle 8211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5813" y="3530966"/>
            <a:ext cx="3539537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What Is CI/CD and How Does It Work? | Black Duck">
            <a:extLst>
              <a:ext uri="{FF2B5EF4-FFF2-40B4-BE49-F238E27FC236}">
                <a16:creationId xmlns:a16="http://schemas.microsoft.com/office/drawing/2014/main" id="{3E40A660-EA21-0FCF-62AA-10FF24929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30799" y="4054891"/>
            <a:ext cx="3229429" cy="1614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214" name="Straight Connector 8213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92240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337B07-E8AC-2971-D2C9-9CFB5B4A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7426444" cy="77820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/>
              <a:t>SageMaker Challenges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19D3EE3-EDFB-20F1-8BF5-2EA3C895B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184" y="1939332"/>
            <a:ext cx="7145090" cy="39410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dirty="0"/>
              <a:t>Batch Inference</a:t>
            </a:r>
            <a:r>
              <a:rPr lang="en-US" sz="2000" dirty="0"/>
              <a:t> and </a:t>
            </a:r>
            <a:r>
              <a:rPr lang="en-US" sz="2000" b="1" dirty="0"/>
              <a:t>CI/CD Model Deployment </a:t>
            </a:r>
            <a:r>
              <a:rPr lang="en-US" sz="2000" dirty="0"/>
              <a:t>succeeded, but required extensive debugging:</a:t>
            </a:r>
            <a:br>
              <a:rPr lang="en-US" sz="2000" dirty="0"/>
            </a:br>
            <a:r>
              <a:rPr lang="en-US" sz="2000" dirty="0"/>
              <a:t>- Fixed multiple input format issues</a:t>
            </a:r>
            <a:br>
              <a:rPr lang="en-US" sz="2000" dirty="0"/>
            </a:br>
            <a:r>
              <a:rPr lang="en-US" sz="2000" dirty="0"/>
              <a:t>- Updated inference.py repeatedly</a:t>
            </a:r>
            <a:br>
              <a:rPr lang="en-US" sz="2000" dirty="0"/>
            </a:br>
            <a:r>
              <a:rPr lang="en-US" sz="2000" dirty="0"/>
              <a:t>- Used CloudWatch logs to trace and resolve silent errors</a:t>
            </a:r>
          </a:p>
          <a:p>
            <a:pPr>
              <a:lnSpc>
                <a:spcPct val="90000"/>
              </a:lnSpc>
            </a:pPr>
            <a:endParaRPr lang="en-US" sz="2000" b="1" dirty="0"/>
          </a:p>
          <a:p>
            <a:pPr>
              <a:lnSpc>
                <a:spcPct val="90000"/>
              </a:lnSpc>
            </a:pPr>
            <a:r>
              <a:rPr lang="en-US" sz="2000" b="1" dirty="0"/>
              <a:t>Model Monitor</a:t>
            </a:r>
            <a:r>
              <a:rPr lang="en-US" sz="2000" dirty="0"/>
              <a:t> jobs failed due to lab limitations:</a:t>
            </a:r>
            <a:br>
              <a:rPr lang="en-US" sz="2000" dirty="0"/>
            </a:br>
            <a:r>
              <a:rPr lang="en-US" sz="2000" dirty="0"/>
              <a:t>- Encoding mismatches</a:t>
            </a:r>
            <a:br>
              <a:rPr lang="en-US" sz="2000" dirty="0"/>
            </a:br>
            <a:r>
              <a:rPr lang="en-US" sz="2000" dirty="0"/>
              <a:t>- Missing CloudWatch logs</a:t>
            </a:r>
            <a:br>
              <a:rPr lang="en-US" sz="2000" dirty="0"/>
            </a:br>
            <a:r>
              <a:rPr lang="en-US" sz="2000" dirty="0"/>
              <a:t>- Silent container crashes</a:t>
            </a:r>
            <a:br>
              <a:rPr lang="en-US" sz="2000" dirty="0"/>
            </a:br>
            <a:r>
              <a:rPr lang="en-US" sz="2000" dirty="0"/>
              <a:t>- Real-time monitoring not fully testable — simulated instead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5879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1058F2-324E-1F8E-2AEA-81E8D91E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704057"/>
            <a:ext cx="6056111" cy="7681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5607D-0365-046D-2473-8AEC4883F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1643429"/>
            <a:ext cx="6056111" cy="421686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Baseline notebook covered data extraction, EDA, feature engineering, 4 ML models, and final model selection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Modular SageMaker pipeline built across multiple notebooks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Batch inference on validation data successfully completed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Full CI/CD pipeline implemented with automated model deployment and approval logic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Included code for two online monitoring modes (hourly &amp; on-demand)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Due to AWS lab issues, online monitoring output not visible — simulated ‘Completed’ status used for approval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Offline Bias Monitoring completed successfully — no racial bias detected in batch predictions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800" dirty="0"/>
          </a:p>
        </p:txBody>
      </p:sp>
      <p:pic>
        <p:nvPicPr>
          <p:cNvPr id="7" name="Video 6">
            <a:extLst>
              <a:ext uri="{FF2B5EF4-FFF2-40B4-BE49-F238E27FC236}">
                <a16:creationId xmlns:a16="http://schemas.microsoft.com/office/drawing/2014/main" id="{783883C7-D331-960F-8B13-B2F183A069AA}"/>
              </a:ext>
            </a:extLst>
          </p:cNvPr>
          <p:cNvPicPr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875" r="21875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56307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5" name="Rectangle 9224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27" name="Group 9226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9228" name="Rectangle 9227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9" name="Rectangle 9228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31" name="Rectangle 9230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211" y="500887"/>
            <a:ext cx="4933889" cy="1402277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Healthcare Use Cases</a:t>
            </a:r>
          </a:p>
        </p:txBody>
      </p:sp>
      <p:sp>
        <p:nvSpPr>
          <p:cNvPr id="9233" name="Rectangle 9232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567" y="1806881"/>
            <a:ext cx="4559314" cy="423297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pPr>
              <a:lnSpc>
                <a:spcPct val="150000"/>
              </a:lnSpc>
            </a:pPr>
            <a:r>
              <a:rPr lang="en-US" sz="2000" dirty="0"/>
              <a:t>Real-time discharge planning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Reducing preventable readmissions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CMS compliance, quality-based care models</a:t>
            </a:r>
          </a:p>
        </p:txBody>
      </p:sp>
      <p:pic>
        <p:nvPicPr>
          <p:cNvPr id="9218" name="Picture 2" descr="Digital patient flow trackers enhance discharge planning">
            <a:extLst>
              <a:ext uri="{FF2B5EF4-FFF2-40B4-BE49-F238E27FC236}">
                <a16:creationId xmlns:a16="http://schemas.microsoft.com/office/drawing/2014/main" id="{5355292F-0B14-918D-1EBD-248F92C7CB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6657" y="774285"/>
            <a:ext cx="2258526" cy="258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Prepare for Value-Based Payment - AAPC Knowledge Center">
            <a:extLst>
              <a:ext uri="{FF2B5EF4-FFF2-40B4-BE49-F238E27FC236}">
                <a16:creationId xmlns:a16="http://schemas.microsoft.com/office/drawing/2014/main" id="{8A90317B-A533-6FD0-FA0C-276525BBF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0000" y="3923371"/>
            <a:ext cx="3291840" cy="1884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792</Words>
  <Application>Microsoft Macintosh PowerPoint</Application>
  <PresentationFormat>On-screen Show (4:3)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Hospital Readmission Prediction System</vt:lpstr>
      <vt:lpstr>Business Use Case &amp; Problem</vt:lpstr>
      <vt:lpstr>Dataset Overview</vt:lpstr>
      <vt:lpstr>Solution Overview</vt:lpstr>
      <vt:lpstr>Phase 1: Model Selection</vt:lpstr>
      <vt:lpstr>Phase 2: System Architecture</vt:lpstr>
      <vt:lpstr>Feature Store &amp; Engineering</vt:lpstr>
      <vt:lpstr>Model Training &amp; Evaluation</vt:lpstr>
      <vt:lpstr>Batch Inference</vt:lpstr>
      <vt:lpstr>Monitoring &amp; Registry</vt:lpstr>
      <vt:lpstr>CI/CD Automation</vt:lpstr>
      <vt:lpstr>SageMaker Challenges</vt:lpstr>
      <vt:lpstr>Summary</vt:lpstr>
      <vt:lpstr>Healthcare Use Cases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Suvo Ganguli</cp:lastModifiedBy>
  <cp:revision>20</cp:revision>
  <dcterms:created xsi:type="dcterms:W3CDTF">2013-01-27T09:14:16Z</dcterms:created>
  <dcterms:modified xsi:type="dcterms:W3CDTF">2025-06-26T10:24:33Z</dcterms:modified>
  <cp:category/>
</cp:coreProperties>
</file>